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ki-k1.vercel.app" TargetMode="Externa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stherrrrrrrrrrrrr/Playfair-Cipher" TargetMode="External"/><Relationship Id="rId2" Type="http://schemas.openxmlformats.org/officeDocument/2006/relationships/hyperlink" Target="https://ki-k1.vercel.app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F6E66"/>
          </a:solidFill>
          <a:ln w="12700">
            <a:solidFill>
              <a:srgbClr val="0F6E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D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TUGAS K1 · KOM1314 KEAMANAN INFORMASI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645920"/>
            <a:ext cx="68580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Implementasi Enkripsi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Playfair Cipher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361188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9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Aplikasi web enkripsi &amp; dekripsi berkas teks dengan bujursangkar kunci 5×5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4754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3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2120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DEPARTEMEN ILMU KOMPUTER · SEKOLAH SAINS DATA, MATEMATIKA, DAN INFORMATIKA · IPB UNIVERSITY · 2026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183880" y="1600200"/>
            <a:ext cx="640080" cy="640080"/>
          </a:xfrm>
          <a:prstGeom prst="rect">
            <a:avLst/>
          </a:prstGeom>
          <a:solidFill>
            <a:srgbClr val="0F6E66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897112" y="1600200"/>
            <a:ext cx="640080" cy="640080"/>
          </a:xfrm>
          <a:prstGeom prst="rect">
            <a:avLst/>
          </a:prstGeom>
          <a:solidFill>
            <a:srgbClr val="0F6E66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610344" y="1600200"/>
            <a:ext cx="640080" cy="640080"/>
          </a:xfrm>
          <a:prstGeom prst="rect">
            <a:avLst/>
          </a:prstGeom>
          <a:solidFill>
            <a:srgbClr val="0F6E66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0323576" y="1600200"/>
            <a:ext cx="640080" cy="640080"/>
          </a:xfrm>
          <a:prstGeom prst="rect">
            <a:avLst/>
          </a:prstGeom>
          <a:solidFill>
            <a:srgbClr val="0F6E66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1036808" y="1600200"/>
            <a:ext cx="640080" cy="640080"/>
          </a:xfrm>
          <a:prstGeom prst="rect">
            <a:avLst/>
          </a:prstGeom>
          <a:solidFill>
            <a:srgbClr val="0F6E66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183880" y="2313432"/>
            <a:ext cx="640080" cy="640080"/>
          </a:xfrm>
          <a:prstGeom prst="rect">
            <a:avLst/>
          </a:prstGeom>
          <a:solidFill>
            <a:srgbClr val="0F6E66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897112" y="2313432"/>
            <a:ext cx="640080" cy="640080"/>
          </a:xfrm>
          <a:prstGeom prst="rect">
            <a:avLst/>
          </a:prstGeom>
          <a:solidFill>
            <a:srgbClr val="0F6E66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610344" y="2313432"/>
            <a:ext cx="640080" cy="640080"/>
          </a:xfrm>
          <a:prstGeom prst="rect">
            <a:avLst/>
          </a:prstGeom>
          <a:solidFill>
            <a:srgbClr val="0F6E66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0323576" y="2313432"/>
            <a:ext cx="640080" cy="640080"/>
          </a:xfrm>
          <a:prstGeom prst="rect">
            <a:avLst/>
          </a:prstGeom>
          <a:solidFill>
            <a:srgbClr val="0F6E66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1036808" y="2313432"/>
            <a:ext cx="640080" cy="640080"/>
          </a:xfrm>
          <a:prstGeom prst="rect">
            <a:avLst/>
          </a:prstGeom>
          <a:solidFill>
            <a:srgbClr val="0F6E66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183880" y="3026664"/>
            <a:ext cx="640080" cy="640080"/>
          </a:xfrm>
          <a:prstGeom prst="rect">
            <a:avLst/>
          </a:prstGeom>
          <a:solidFill>
            <a:srgbClr val="2A333C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F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897112" y="3026664"/>
            <a:ext cx="640080" cy="640080"/>
          </a:xfrm>
          <a:prstGeom prst="rect">
            <a:avLst/>
          </a:prstGeom>
          <a:solidFill>
            <a:srgbClr val="2A333C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F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610344" y="3026664"/>
            <a:ext cx="640080" cy="640080"/>
          </a:xfrm>
          <a:prstGeom prst="rect">
            <a:avLst/>
          </a:prstGeom>
          <a:solidFill>
            <a:srgbClr val="2A333C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F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0323576" y="3026664"/>
            <a:ext cx="640080" cy="640080"/>
          </a:xfrm>
          <a:prstGeom prst="rect">
            <a:avLst/>
          </a:prstGeom>
          <a:solidFill>
            <a:srgbClr val="2A333C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F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1036808" y="3026664"/>
            <a:ext cx="640080" cy="640080"/>
          </a:xfrm>
          <a:prstGeom prst="rect">
            <a:avLst/>
          </a:prstGeom>
          <a:solidFill>
            <a:srgbClr val="2A333C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F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8183880" y="3739896"/>
            <a:ext cx="640080" cy="640080"/>
          </a:xfrm>
          <a:prstGeom prst="rect">
            <a:avLst/>
          </a:prstGeom>
          <a:solidFill>
            <a:srgbClr val="2A333C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F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8897112" y="3739896"/>
            <a:ext cx="640080" cy="640080"/>
          </a:xfrm>
          <a:prstGeom prst="rect">
            <a:avLst/>
          </a:prstGeom>
          <a:solidFill>
            <a:srgbClr val="2A333C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F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610344" y="3739896"/>
            <a:ext cx="640080" cy="640080"/>
          </a:xfrm>
          <a:prstGeom prst="rect">
            <a:avLst/>
          </a:prstGeom>
          <a:solidFill>
            <a:srgbClr val="2A333C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F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0323576" y="3739896"/>
            <a:ext cx="640080" cy="640080"/>
          </a:xfrm>
          <a:prstGeom prst="rect">
            <a:avLst/>
          </a:prstGeom>
          <a:solidFill>
            <a:srgbClr val="2A333C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F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1036808" y="3739896"/>
            <a:ext cx="640080" cy="640080"/>
          </a:xfrm>
          <a:prstGeom prst="rect">
            <a:avLst/>
          </a:prstGeom>
          <a:solidFill>
            <a:srgbClr val="2A333C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F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8183880" y="4453128"/>
            <a:ext cx="640080" cy="640080"/>
          </a:xfrm>
          <a:prstGeom prst="rect">
            <a:avLst/>
          </a:prstGeom>
          <a:solidFill>
            <a:srgbClr val="2A333C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F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8897112" y="4453128"/>
            <a:ext cx="640080" cy="640080"/>
          </a:xfrm>
          <a:prstGeom prst="rect">
            <a:avLst/>
          </a:prstGeom>
          <a:solidFill>
            <a:srgbClr val="2A333C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F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9610344" y="4453128"/>
            <a:ext cx="640080" cy="640080"/>
          </a:xfrm>
          <a:prstGeom prst="rect">
            <a:avLst/>
          </a:prstGeom>
          <a:solidFill>
            <a:srgbClr val="2A333C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F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0323576" y="4453128"/>
            <a:ext cx="640080" cy="640080"/>
          </a:xfrm>
          <a:prstGeom prst="rect">
            <a:avLst/>
          </a:prstGeom>
          <a:solidFill>
            <a:srgbClr val="2A333C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F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1036808" y="4453128"/>
            <a:ext cx="640080" cy="640080"/>
          </a:xfrm>
          <a:prstGeom prst="rect">
            <a:avLst/>
          </a:prstGeom>
          <a:solidFill>
            <a:srgbClr val="2A333C"/>
          </a:solidFill>
          <a:ln w="12700">
            <a:solidFill>
              <a:srgbClr val="3A434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FD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E66"/>
          </a:solidFill>
          <a:ln w="12700">
            <a:solidFill>
              <a:srgbClr val="0F6E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ANGGOTA TIM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Pembagian Kerja &amp; Kontribusi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3 · Playfair Cipher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200400"/>
                <a:gridCol w="1737360"/>
                <a:gridCol w="4480560"/>
                <a:gridCol w="1097280"/>
              </a:tblGrid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6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6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Bagian Kerja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Kontribusi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6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Afdha Auliya Atiq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M0403241163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6E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Pengembangan aplikasi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Rendi Ramadana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M0403241141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Penyusunan laporan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Adzkia Muftia Rahman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M0403241153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Penyusunan laporan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Keyla Nurul Arafah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M0403241059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6E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Pengembangan aplikasi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Muhammad Alif Baha Badiuzzaman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M0403241129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6E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Pengembangan aplikasi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M. Revandi Aridya Pohan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M0403241077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Penyusunan laporan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Nadine Putri Agustin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M0403241041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Penyusunan laporan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Naufal Indra Rizky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M0403241171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Penyusunan laporan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Jeslyn Angelica Widjaja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M0403241065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Penyusunan laporan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Quina Rizky Dae Yuena Siregar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G6401231013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Penyusunan laporan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Nazwa Nadya Rahma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M0403241060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Penyusunan laporan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E66"/>
          </a:solidFill>
          <a:ln w="12700">
            <a:solidFill>
              <a:srgbClr val="0F6E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 · PENDAHULUAN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Latar Belakang &amp; Tujuan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3 · Playfair Cipher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548640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60020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Latar Belakang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77240" y="2057400"/>
            <a:ext cx="502920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Kriptografi klasik adalah dasar konsep dan algoritma kriptografi modern.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Playfair cipher (Wheatstone, 1854) mengenkripsi pasangan huruf (bigram), bukan huruf tunggal.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Frekuensi huruf cipherteks lebih datar sehingga analisis frekuensi huruf tunggal lebih sulit.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17920" y="1463040"/>
            <a:ext cx="539496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60020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Tujuan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446520" y="2057400"/>
            <a:ext cx="493776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Mengimplementasikan Playfair cipher sesuai materi kuliah Kriptografi Klasik.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Membangun aplikasi dengan masukan berkas teks &amp; kunci, keluaran berkas terenkripsi.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Menguji kebenaran terhadap contoh materi kuliah dan pengujian otomatis.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E66"/>
          </a:solidFill>
          <a:ln w="12700">
            <a:solidFill>
              <a:srgbClr val="0F6E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 · PENDAHULUAN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Deskripsi Aplikasi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3 · Playfair Cipher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56692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Aplikasi web statis yang mengenkripsi dan mendekripsi berkas teks dengan Playfair cipher. Seluruh proses berjalan di peramban, tanpa server.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56692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2976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6E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Masukan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Berkas .txt atau teks ketikan + kata/frasa kunci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6E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Keluaran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Cipherteks/plainteks: salin atau unduh .txt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6E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Enkripsi dan dekripsi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6E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Fitur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Bujursangkar langsung, proses per bigram, histogram frekuensi, contoh slide, validasi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6E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Teknologi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D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HTML, CSS, JavaScript tanpa pustaka eksternal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464808" y="1344168"/>
            <a:ext cx="5221224" cy="3502152"/>
          </a:xfrm>
          <a:prstGeom prst="roundRect">
            <a:avLst>
              <a:gd name="adj" fmla="val 2089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pic>
        <p:nvPicPr>
          <p:cNvPr id="10" name="Image 0" descr="/Users/macbook/Documents/Tugas Keamanan Informasi/ki-k1/laporan/screenshots/01-tampilan-aw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37960" y="1417320"/>
            <a:ext cx="5074920" cy="3355848"/>
          </a:xfrm>
          <a:prstGeom prst="rect">
            <a:avLst/>
          </a:prstGeom>
        </p:spPr>
      </p:pic>
      <p:sp>
        <p:nvSpPr>
          <p:cNvPr id="11" name="Text 7">
            <a:hlinkClick r:id="rId2" tooltip=""/>
          </p:cNvPr>
          <p:cNvSpPr/>
          <p:nvPr/>
        </p:nvSpPr>
        <p:spPr>
          <a:xfrm>
            <a:off x="6537960" y="498348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0F6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ki-k1.vercel.app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E66"/>
          </a:solidFill>
          <a:ln w="12700">
            <a:solidFill>
              <a:srgbClr val="0F6E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II · DASAR TEORI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Aturan Playfair Cipher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3 · Playfair Cipher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749040" cy="46634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572768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Bujursangkar kunci "ALNGESHPUB"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2057400"/>
            <a:ext cx="566928" cy="566928"/>
          </a:xfrm>
          <a:prstGeom prst="rect">
            <a:avLst/>
          </a:prstGeom>
          <a:solidFill>
            <a:srgbClr val="0F6E66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90472" y="2057400"/>
            <a:ext cx="566928" cy="566928"/>
          </a:xfrm>
          <a:prstGeom prst="rect">
            <a:avLst/>
          </a:prstGeom>
          <a:solidFill>
            <a:srgbClr val="0F6E66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112264" y="2057400"/>
            <a:ext cx="566928" cy="566928"/>
          </a:xfrm>
          <a:prstGeom prst="rect">
            <a:avLst/>
          </a:prstGeom>
          <a:solidFill>
            <a:srgbClr val="0F6E66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734056" y="2057400"/>
            <a:ext cx="566928" cy="566928"/>
          </a:xfrm>
          <a:prstGeom prst="rect">
            <a:avLst/>
          </a:prstGeom>
          <a:solidFill>
            <a:srgbClr val="0F6E66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355848" y="2057400"/>
            <a:ext cx="566928" cy="566928"/>
          </a:xfrm>
          <a:prstGeom prst="rect">
            <a:avLst/>
          </a:prstGeom>
          <a:solidFill>
            <a:srgbClr val="0F6E66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68680" y="2679192"/>
            <a:ext cx="566928" cy="566928"/>
          </a:xfrm>
          <a:prstGeom prst="rect">
            <a:avLst/>
          </a:prstGeom>
          <a:solidFill>
            <a:srgbClr val="0F6E66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90472" y="2679192"/>
            <a:ext cx="566928" cy="566928"/>
          </a:xfrm>
          <a:prstGeom prst="rect">
            <a:avLst/>
          </a:prstGeom>
          <a:solidFill>
            <a:srgbClr val="0F6E66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2112264" y="2679192"/>
            <a:ext cx="566928" cy="566928"/>
          </a:xfrm>
          <a:prstGeom prst="rect">
            <a:avLst/>
          </a:prstGeom>
          <a:solidFill>
            <a:srgbClr val="0F6E66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2734056" y="2679192"/>
            <a:ext cx="566928" cy="566928"/>
          </a:xfrm>
          <a:prstGeom prst="rect">
            <a:avLst/>
          </a:prstGeom>
          <a:solidFill>
            <a:srgbClr val="0F6E66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355848" y="2679192"/>
            <a:ext cx="566928" cy="566928"/>
          </a:xfrm>
          <a:prstGeom prst="rect">
            <a:avLst/>
          </a:prstGeom>
          <a:solidFill>
            <a:srgbClr val="0F6E66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68680" y="3300984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490472" y="3300984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2112264" y="3300984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34056" y="3300984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3355848" y="3300984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68680" y="3922776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1490472" y="3922776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12264" y="3922776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2734056" y="3922776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3355848" y="3922776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868680" y="4544568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1490472" y="4544568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2112264" y="4544568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2734056" y="4544568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3355848" y="4544568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85800" y="530352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huruf tanpa J · 25! kemungkinan kunci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26280" y="1463040"/>
            <a:ext cx="70866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54880" y="155448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Pra-pemrosesan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4754880" y="1920240"/>
            <a:ext cx="6675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 → I, tulis per bigram, huruf kembar disisipi X, jumlah ganjil ditambah X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4526280" y="2651760"/>
            <a:ext cx="70866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54880" y="274320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Baris sama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4754880" y="3108960"/>
            <a:ext cx="6675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Geser ke kanan (dekripsi: kiri), siklik. Contoh DI → FK</a:t>
            </a:r>
            <a:endParaRPr lang="en-US" sz="1450" dirty="0"/>
          </a:p>
        </p:txBody>
      </p:sp>
      <p:sp>
        <p:nvSpPr>
          <p:cNvPr id="41" name="Shape 39"/>
          <p:cNvSpPr/>
          <p:nvPr/>
        </p:nvSpPr>
        <p:spPr>
          <a:xfrm>
            <a:off x="4526280" y="3840480"/>
            <a:ext cx="70866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54880" y="393192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Kolom sama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4754880" y="4297680"/>
            <a:ext cx="6675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Geser ke bawah (dekripsi: atas), siklik. Contoh NQ → PX</a:t>
            </a:r>
            <a:endParaRPr lang="en-US" sz="1450" dirty="0"/>
          </a:p>
        </p:txBody>
      </p:sp>
      <p:sp>
        <p:nvSpPr>
          <p:cNvPr id="44" name="Shape 42"/>
          <p:cNvSpPr/>
          <p:nvPr/>
        </p:nvSpPr>
        <p:spPr>
          <a:xfrm>
            <a:off x="4526280" y="5029200"/>
            <a:ext cx="70866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54880" y="512064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Persegi panjang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4754880" y="5486400"/>
            <a:ext cx="6675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Ambil sudut pada baris masing-masing huruf. Contoh HZ → BW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E66"/>
          </a:solidFill>
          <a:ln w="12700">
            <a:solidFill>
              <a:srgbClr val="0F6E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III · PERANCANGAN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Kerja Aplikasi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3 · Playfair Cipher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1444752" cy="1828800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5875">
            <a:solidFill>
              <a:srgbClr val="0F6E6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148840"/>
            <a:ext cx="438912" cy="438912"/>
          </a:xfrm>
          <a:prstGeom prst="ellipse">
            <a:avLst/>
          </a:prstGeom>
          <a:solidFill>
            <a:srgbClr val="0F6E6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697480"/>
            <a:ext cx="13533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Pilih mode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21792" y="3108960"/>
            <a:ext cx="129844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Enkripsi / Dekripsi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975104" y="2651760"/>
            <a:ext cx="1920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2148840" y="2011680"/>
            <a:ext cx="1444752" cy="1828800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5875">
            <a:solidFill>
              <a:srgbClr val="0F6E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51760" y="2148840"/>
            <a:ext cx="438912" cy="438912"/>
          </a:xfrm>
          <a:prstGeom prst="ellipse">
            <a:avLst/>
          </a:prstGeom>
          <a:solidFill>
            <a:srgbClr val="0F6E6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194560" y="2697480"/>
            <a:ext cx="13533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Ketik kunci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221992" y="3108960"/>
            <a:ext cx="129844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Bujursangkar 5×5 terbentuk langsung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575304" y="2651760"/>
            <a:ext cx="1920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749040" y="2011680"/>
            <a:ext cx="1444752" cy="1828800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5875">
            <a:solidFill>
              <a:srgbClr val="0F6E6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51960" y="2148840"/>
            <a:ext cx="438912" cy="438912"/>
          </a:xfrm>
          <a:prstGeom prst="ellipse">
            <a:avLst/>
          </a:prstGeom>
          <a:solidFill>
            <a:srgbClr val="0F6E6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794760" y="2697480"/>
            <a:ext cx="13533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Pilih berkas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822192" y="3108960"/>
            <a:ext cx="129844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.txt dibaca FileReader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175504" y="2651760"/>
            <a:ext cx="1920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5349240" y="2011680"/>
            <a:ext cx="1444752" cy="1828800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5875">
            <a:solidFill>
              <a:srgbClr val="0F6E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52160" y="2148840"/>
            <a:ext cx="438912" cy="438912"/>
          </a:xfrm>
          <a:prstGeom prst="ellipse">
            <a:avLst/>
          </a:prstGeom>
          <a:solidFill>
            <a:srgbClr val="0F6E6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394960" y="2697480"/>
            <a:ext cx="13533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Proses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422392" y="3108960"/>
            <a:ext cx="129844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Validasi masukan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775704" y="2651760"/>
            <a:ext cx="1920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6949440" y="2011680"/>
            <a:ext cx="1444752" cy="1828800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5875">
            <a:solidFill>
              <a:srgbClr val="0F6E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52360" y="2148840"/>
            <a:ext cx="438912" cy="438912"/>
          </a:xfrm>
          <a:prstGeom prst="ellipse">
            <a:avLst/>
          </a:prstGeom>
          <a:solidFill>
            <a:srgbClr val="0F6E6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995160" y="2697480"/>
            <a:ext cx="13533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Pra-pemrosesan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022592" y="3108960"/>
            <a:ext cx="129844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Normalisasi &amp; bigram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375904" y="2651760"/>
            <a:ext cx="1920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8549640" y="2011680"/>
            <a:ext cx="1444752" cy="1828800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5875">
            <a:solidFill>
              <a:srgbClr val="0F6E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052560" y="2148840"/>
            <a:ext cx="438912" cy="438912"/>
          </a:xfrm>
          <a:prstGeom prst="ellipse">
            <a:avLst/>
          </a:prstGeom>
          <a:solidFill>
            <a:srgbClr val="0F6E6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595360" y="2697480"/>
            <a:ext cx="13533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Transformasi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622792" y="3108960"/>
            <a:ext cx="129844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Aturan baris/kolom/persegi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9976104" y="2651760"/>
            <a:ext cx="1920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37" name="Shape 35"/>
          <p:cNvSpPr/>
          <p:nvPr/>
        </p:nvSpPr>
        <p:spPr>
          <a:xfrm>
            <a:off x="10149840" y="2011680"/>
            <a:ext cx="1444752" cy="1828800"/>
          </a:xfrm>
          <a:prstGeom prst="roundRect">
            <a:avLst>
              <a:gd name="adj" fmla="val 5063"/>
            </a:avLst>
          </a:prstGeom>
          <a:solidFill>
            <a:srgbClr val="0F6E66"/>
          </a:solidFill>
          <a:ln w="15875">
            <a:solidFill>
              <a:srgbClr val="0F6E6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652760" y="2148840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0195560" y="2697480"/>
            <a:ext cx="13533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0222992" y="3108960"/>
            <a:ext cx="129844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Tampilkan, salin, unduh .txt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4251960"/>
            <a:ext cx="11064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7240" y="4389120"/>
            <a:ext cx="10607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Kunci diketik → huruf unik kunci ditulis lebih dulu, J diganti I, lalu sisa alfabet.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Teks dinormalisasi (huruf kapital, non-huruf dibuang), dipecah per bigram, lalu tiap bigram diganti sesuai aturannya.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dapat langsung dipakai sebagai masukan mode sebaliknya untuk memeriksa dekripsi.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E66"/>
          </a:solidFill>
          <a:ln w="12700">
            <a:solidFill>
              <a:srgbClr val="0F6E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III · IMPLEMENTASI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 Kode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3 · Playfair Cipher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576072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517904"/>
            <a:ext cx="5394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app/playfair.js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1847088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Algoritma inti: normalize, buildKeySquare, toBigrams, transformPair, encrypt, decrypt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395728"/>
            <a:ext cx="576072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50592"/>
            <a:ext cx="5394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app/app.js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2779776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Logika antarmuka: baca berkas, proses, tampilkan langkah, salin &amp; unduh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328416"/>
            <a:ext cx="576072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383280"/>
            <a:ext cx="5394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app/index.html + style.css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31520" y="371246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Tampilan halaman: kartu masukan, hasil, tabel, histogram, bujursangkar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261104"/>
            <a:ext cx="576072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315968"/>
            <a:ext cx="5394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tests/playfair.test.js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" y="4645152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 dengan node:test, termasuk contoh dari slide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5303520"/>
            <a:ext cx="5760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fungsi untuk dua arah: pergeseran +1 saat enkripsi dan +4 (≡ −1 mod 5) saat dekripsi.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537960" y="1463040"/>
            <a:ext cx="5074920" cy="4572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20840" y="1645920"/>
            <a:ext cx="47548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transformPair(pair, square, dir)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shift = dir === "decrypt" ? 4 : 1;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p1 = square.position[pair[0]];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p2 = square.position[pair[1]];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(p1.row === p2.row)      // baris sama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→ geser kolom (c + shift) mod 5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else if (p1.col === p2.col) // kolom sama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→ geser baris (r + shift) mod 5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else                        // persegi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→ (r1, c2) dan (r2, c1)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D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E66"/>
          </a:solidFill>
          <a:ln w="12700">
            <a:solidFill>
              <a:srgbClr val="0F6E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IV · HASIL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Navigasi Aplikasi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3 · Playfair Cipher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072384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pic>
        <p:nvPicPr>
          <p:cNvPr id="8" name="Image 0" descr="/Users/macbook/Documents/Tugas Keamanan Informasi/ki-k1/laporan/screenshots/02-input-enkrips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90472"/>
            <a:ext cx="2926080" cy="19385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749040" y="16916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Masukan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3749040" y="214884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Pilih mode, ketik kunci, unggah berkas .txt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72200" y="1417320"/>
            <a:ext cx="3072384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pic>
        <p:nvPicPr>
          <p:cNvPr id="12" name="Image 1" descr="/Users/macbook/Documents/Tugas Keamanan Informasi/ki-k1/laporan/screenshots/03-hasil-enkripsi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45352" y="1490472"/>
            <a:ext cx="2926080" cy="193852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372600" y="16916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Hasil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9372600" y="214884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Cipherteks, statistik, Salin &amp; Unduh .txt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48640" y="3904488"/>
            <a:ext cx="3072384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pic>
        <p:nvPicPr>
          <p:cNvPr id="16" name="Image 2" descr="/Users/macbook/Documents/Tugas Keamanan Informasi/ki-k1/laporan/screenshots/05-proses-bigram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3977640"/>
            <a:ext cx="2926080" cy="193852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749040" y="4178808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3–4 · Proses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3749040" y="4636008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Bigram &amp; tabel aturan, disorot di bujursangkar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172200" y="3904488"/>
            <a:ext cx="3072384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pic>
        <p:nvPicPr>
          <p:cNvPr id="20" name="Image 3" descr="/Users/macbook/Documents/Tugas Keamanan Informasi/ki-k1/laporan/screenshots/08-hasil-dekripsi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45352" y="3977640"/>
            <a:ext cx="2926080" cy="193852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372600" y="4178808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Dekripsi</a:t>
            </a:r>
            <a:endParaRPr lang="en-US" sz="1700" dirty="0"/>
          </a:p>
        </p:txBody>
      </p:sp>
      <p:sp>
        <p:nvSpPr>
          <p:cNvPr id="22" name="Text 16"/>
          <p:cNvSpPr/>
          <p:nvPr/>
        </p:nvSpPr>
        <p:spPr>
          <a:xfrm>
            <a:off x="9372600" y="4636008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Plainteks kembali + hasil mentah sebelum X dibuang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E66"/>
          </a:solidFill>
          <a:ln w="12700">
            <a:solidFill>
              <a:srgbClr val="0F6E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IV · PENGUJIAN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Verifikasi dengan Contoh Materi Kuliah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3 · Playfair Cipher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47548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463040"/>
                <a:gridCol w="1280160"/>
                <a:gridCol w="914400"/>
              </a:tblGrid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Bigram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Hasil aplikasi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6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TE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ZB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ZB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76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MU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RS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RS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76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IX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FY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FY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76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IB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KU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KU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76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UN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PG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PG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76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AN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LG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LG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76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RK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RK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76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VS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VS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76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NL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NL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76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MX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QV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D23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QV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76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1417320"/>
            <a:ext cx="594360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852160" y="1508760"/>
            <a:ext cx="1737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10/10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589520" y="1508760"/>
            <a:ext cx="384048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bigram contoh slide sama persis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669280" y="2560320"/>
            <a:ext cx="594360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852160" y="2651760"/>
            <a:ext cx="1737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10/10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7589520" y="2651760"/>
            <a:ext cx="384048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 lulus (npm test)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669280" y="3703320"/>
            <a:ext cx="594360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852160" y="3794760"/>
            <a:ext cx="1737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589520" y="3794760"/>
            <a:ext cx="384048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acak enkripsi → dekripsi kembali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669280" y="4937760"/>
            <a:ext cx="5943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Plainteks "temui ibu nanti malam" → ZB RS FY KU PG LG RK VS NL QV. Masukan tidak valid (misalnya cipherteks ganjil) ditolak dengan pesan kesalahan.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E66"/>
          </a:solidFill>
          <a:ln w="12700">
            <a:solidFill>
              <a:srgbClr val="0F6E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F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V · KESIMPULAN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Kesimpulan &amp; Kode Sumber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3 · Playfair Cipher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667512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2700">
            <a:solidFill>
              <a:srgbClr val="E2DE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645920"/>
            <a:ext cx="6263640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Playfair cipher berhasil diimplementasikan sebagai aplikasi web: masukan berkas teks &amp; kunci, keluaran berkas terenkripsi.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sesuai materi kuliah dan lolos seluruh unit test; dekripsi mengembalikan plainteks.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Frekuensi huruf tunggal tersamarkan, tetapi karena blok hanya 2 huruf, Playfair tetap rentan analisis frekuensi bigram, sehingga tidak layak untuk pengamanan modern.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452360" y="1463040"/>
            <a:ext cx="4160520" cy="1280160"/>
          </a:xfrm>
          <a:prstGeom prst="roundRect">
            <a:avLst>
              <a:gd name="adj" fmla="val 5714"/>
            </a:avLst>
          </a:prstGeom>
          <a:solidFill>
            <a:srgbClr val="1D232A"/>
          </a:solidFill>
          <a:ln w="12700">
            <a:solidFill>
              <a:srgbClr val="1D23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35240" y="1600200"/>
            <a:ext cx="3794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Kode aplikasi (GitHub)</a:t>
            </a:r>
            <a:endParaRPr lang="en-US" sz="1500" dirty="0"/>
          </a:p>
        </p:txBody>
      </p:sp>
      <p:sp>
        <p:nvSpPr>
          <p:cNvPr id="11" name="Text 9">
            <a:hlinkClick r:id="rId1" tooltip=""/>
          </p:cNvPr>
          <p:cNvSpPr/>
          <p:nvPr/>
        </p:nvSpPr>
        <p:spPr>
          <a:xfrm>
            <a:off x="7635240" y="2029968"/>
            <a:ext cx="3794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github.com/estherrrrrrrrrrrrr/Playfair-Cipher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452360" y="2926080"/>
            <a:ext cx="4160520" cy="1280160"/>
          </a:xfrm>
          <a:prstGeom prst="roundRect">
            <a:avLst>
              <a:gd name="adj" fmla="val 5714"/>
            </a:avLst>
          </a:prstGeom>
          <a:solidFill>
            <a:srgbClr val="0F6E66"/>
          </a:solidFill>
          <a:ln w="12700">
            <a:solidFill>
              <a:srgbClr val="0F6E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35240" y="3063240"/>
            <a:ext cx="3794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Aplikasi (Vercel)</a:t>
            </a:r>
            <a:endParaRPr lang="en-US" sz="1500" dirty="0"/>
          </a:p>
        </p:txBody>
      </p:sp>
      <p:sp>
        <p:nvSpPr>
          <p:cNvPr id="14" name="Text 12">
            <a:hlinkClick r:id="rId2" tooltip=""/>
          </p:cNvPr>
          <p:cNvSpPr/>
          <p:nvPr/>
        </p:nvSpPr>
        <p:spPr>
          <a:xfrm>
            <a:off x="7635240" y="3493008"/>
            <a:ext cx="3794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ki-k1.vercel.app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452360" y="4663440"/>
            <a:ext cx="4160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 kasih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452360" y="5349240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 tanya jawab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Kelompok 3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Implementasi Enkripsi Playfair Cipher</dc:title>
  <dc:subject>PptxGenJS Presentation</dc:subject>
  <dc:creator>PptxGenJS</dc:creator>
  <cp:lastModifiedBy>PptxGenJS</cp:lastModifiedBy>
  <cp:revision>1</cp:revision>
  <dcterms:created xsi:type="dcterms:W3CDTF">2026-09-20T09:09:19Z</dcterms:created>
  <dcterms:modified xsi:type="dcterms:W3CDTF">2026-09-20T09:09:19Z</dcterms:modified>
</cp:coreProperties>
</file>